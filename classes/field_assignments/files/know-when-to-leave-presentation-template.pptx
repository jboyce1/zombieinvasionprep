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D79473-5976-4FD4-A4D1-A371C30365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BA612F-7E4F-4F53-AD2E-745152C475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AE36F42-F629-4D9B-8DF3-DEEC42DF1A1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TITLE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KNOW WHEN TO LEAVE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A researched evacuation decision and movement plan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KNOW WHEN TO LEAVE  •  01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432000" y="1800000"/>
            <a:ext cx="10260000" cy="140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234000" rIns="234000" tIns="234000" bIns="234000" anchor="t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When does leaving become safer than staying—and can the whole household actually reach safety?</a:t>
            </a:r>
            <a:endParaRPr b="1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432000" y="3456000"/>
            <a:ext cx="6480000" cy="864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80000" rIns="180000" tIns="180000" bIns="180000" anchor="t">
            <a:noAutofit/>
          </a:bodyPr>
          <a:p>
            <a:r>
              <a:rPr b="0" lang="en-US" sz="2000" spc="-1" strike="noStrike">
                <a:solidFill>
                  <a:srgbClr val="18211b"/>
                </a:solidFill>
                <a:latin typeface="Arial"/>
              </a:rPr>
              <a:t>Prepared by</a:t>
            </a:r>
            <a:endParaRPr b="0" lang="en-US" sz="20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18211b"/>
                </a:solidFill>
                <a:latin typeface="Arial"/>
              </a:rPr>
              <a:t>[YOUR NAME]</a:t>
            </a:r>
            <a:endParaRPr b="0" lang="en-US" sz="20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18211b"/>
                </a:solidFill>
                <a:latin typeface="Arial"/>
              </a:rPr>
              <a:t>[DATE]</a:t>
            </a:r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7308000" y="3456000"/>
            <a:ext cx="3384000" cy="864000"/>
          </a:xfrm>
          <a:prstGeom prst="rect">
            <a:avLst/>
          </a:prstGeom>
          <a:solidFill>
            <a:srgbClr val="e8efe7"/>
          </a:solidFill>
          <a:ln w="10080">
            <a:noFill/>
          </a:ln>
        </p:spPr>
        <p:txBody>
          <a:bodyPr lIns="162000" rIns="162000" tIns="162000" bIns="162000" anchor="t">
            <a:noAutofit/>
          </a:bodyPr>
          <a:p>
            <a:r>
              <a:rPr b="0" lang="en-US" sz="1400" spc="-1" strike="noStrike">
                <a:solidFill>
                  <a:srgbClr val="526158"/>
                </a:solidFill>
                <a:latin typeface="Arial"/>
              </a:rPr>
              <a:t>VISUAL</a:t>
            </a:r>
            <a:endParaRPr b="0" lang="en-US" sz="1400" spc="-1" strike="noStrike">
              <a:solidFill>
                <a:srgbClr val="526158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526158"/>
                </a:solidFill>
                <a:latin typeface="Arial"/>
              </a:rPr>
              <a:t>Evacuation symbol, map fragment, or credited photo</a:t>
            </a:r>
            <a:endParaRPr b="0" lang="en-US" sz="14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432000" y="5004000"/>
            <a:ext cx="10260000" cy="576000"/>
          </a:xfrm>
          <a:prstGeom prst="rect">
            <a:avLst/>
          </a:prstGeom>
          <a:solidFill>
            <a:srgbClr val="fff3cb"/>
          </a:solidFill>
          <a:ln w="10080">
            <a:noFill/>
          </a:ln>
        </p:spPr>
        <p:txBody>
          <a:bodyPr lIns="162000" rIns="162000" tIns="162000" bIns="162000" anchor="t">
            <a:noAutofit/>
          </a:bodyPr>
          <a:p>
            <a:r>
              <a:rPr b="1" lang="en-US" sz="1500" spc="-1" strike="noStrike">
                <a:solidFill>
                  <a:srgbClr val="18211b"/>
                </a:solidFill>
                <a:latin typeface="Arial"/>
              </a:rPr>
              <a:t>Privacy: use a neighborhood or public landmark—not a home address. Remove names, phone numbers, private destinations, and security details.</a:t>
            </a:r>
            <a:endParaRPr b="1" lang="en-US" sz="1500" spc="-1" strike="noStrike">
              <a:solidFill>
                <a:srgbClr val="18211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EVACUATION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THE DECISION: LEAVE BY ______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State the threshold, the cost of leaving early, and the danger of waiting.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KNOW WHEN TO LEAVE  •  02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432000" y="1548000"/>
            <a:ext cx="522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DEPARTURE THRESHOLD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32000" y="1782000"/>
            <a:ext cx="5220000" cy="2718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We should leave voluntarily when…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We leave immediately when…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We shelter temporarily when…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012000" y="1548000"/>
            <a:ext cx="5220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THE TRADEOFF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6012000" y="1782000"/>
            <a:ext cx="5220000" cy="2718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Strongest reason to leave early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Strongest reason to wait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Evidence that breaks the tie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32000" y="4896000"/>
            <a:ext cx="10800000" cy="68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180000" rIns="180000" tIns="180000" bIns="180000" anchor="t">
            <a:noAutofit/>
          </a:bodyPr>
          <a:p>
            <a:r>
              <a:rPr b="1" lang="en-US" sz="1900" spc="-1" strike="noStrike">
                <a:solidFill>
                  <a:srgbClr val="ffffff"/>
                </a:solidFill>
                <a:latin typeface="Arial"/>
              </a:rPr>
              <a:t>Official evacuation or shelter-in-place instructions override this plan.</a:t>
            </a:r>
            <a:endParaRPr b="1" lang="en-US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EVACUATION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WHO MUST THIS PLAN WORK FOR?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Mobility and access determine whether a route is real.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KNOW WHEN TO LEAVE  •  03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32000" y="1548000"/>
            <a:ext cx="522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HOUSEHOLD CONSTRAINTS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432000" y="1782000"/>
            <a:ext cx="5220000" cy="300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People and pets—counts only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Slowest traveler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Mobility or accessibility needs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Adult-managed dependencies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Weather and time limits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012000" y="1548000"/>
            <a:ext cx="5220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PLANNING CONSEQUENCES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6012000" y="1782000"/>
            <a:ext cx="5220000" cy="300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Because of these constraints…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our primary mode must…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our fallback must…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our load must…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we cannot assume…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432000" y="5040000"/>
            <a:ext cx="10800000" cy="504000"/>
          </a:xfrm>
          <a:prstGeom prst="rect">
            <a:avLst/>
          </a:prstGeom>
          <a:solidFill>
            <a:srgbClr val="fff3cb"/>
          </a:solidFill>
          <a:ln w="10080">
            <a:noFill/>
          </a:ln>
        </p:spPr>
        <p:txBody>
          <a:bodyPr lIns="144000" rIns="144000" tIns="144000" bIns="144000" anchor="t">
            <a:noAutofit/>
          </a:bodyPr>
          <a:p>
            <a:r>
              <a:rPr b="1" lang="en-US" sz="1700" spc="-1" strike="noStrike">
                <a:solidFill>
                  <a:srgbClr val="18211b"/>
                </a:solidFill>
                <a:latin typeface="Arial"/>
              </a:rPr>
              <a:t>A plan that abandons one household member is not a household plan.</a:t>
            </a:r>
            <a:endParaRPr b="1" lang="en-US" sz="1700" spc="-1" strike="noStrike">
              <a:solidFill>
                <a:srgbClr val="18211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EVACUATION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TWO THREATS. TWO SAFE DIRECTIONS.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Show both routes on one redacted map.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KNOW WHEN TO LEAVE  •  04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32000" y="1548000"/>
            <a:ext cx="738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MAP SPACE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432000" y="1782000"/>
            <a:ext cx="7380000" cy="3510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INSERT OR DRAW YOUR MAP HERE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Show: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general start area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Route A and Route B in different colors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threat direction/area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destinations by general area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checkpoints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north arrow and legend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8172000" y="1548000"/>
            <a:ext cx="306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THREAT A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8172000" y="1782000"/>
            <a:ext cx="3060000" cy="1494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[Hazard]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Why Route A moves away from it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72000" y="3456000"/>
            <a:ext cx="3060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THREAT B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8172000" y="3690000"/>
            <a:ext cx="3060000" cy="1602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[Hazard]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Why Route B must differ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EVACUATION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ROUTE A: __________________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Make the route usable without a cell signal.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KNOW WHEN TO LEAVE  •  05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32000" y="1548000"/>
            <a:ext cx="522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ROUTE FACTS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32000" y="1782000"/>
            <a:ext cx="5220000" cy="282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Threat served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Destination area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Distance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Primary roads/turns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Likely congestion or closure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Route-specific hazard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012000" y="1548000"/>
            <a:ext cx="5220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CHECKPOINTS + FAILURE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012000" y="1782000"/>
            <a:ext cx="5220000" cy="282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Navigation checkpoint 1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Navigation checkpoint 2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Decision checkpoint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If the route fails, we…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432000" y="4932000"/>
            <a:ext cx="10800000" cy="612000"/>
          </a:xfrm>
          <a:prstGeom prst="rect">
            <a:avLst/>
          </a:prstGeom>
          <a:solidFill>
            <a:srgbClr val="e8efe7"/>
          </a:solidFill>
          <a:ln w="10080">
            <a:noFill/>
          </a:ln>
        </p:spPr>
        <p:txBody>
          <a:bodyPr lIns="144000" rIns="144000" tIns="144000" bIns="14400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Add a route detail map, elevation profile, landmark photos, or short directions—whichever communicates best.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EVACUATION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ROUTE B: __________________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A second threat must create a genuinely different safe direction.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KNOW WHEN TO LEAVE  •  06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432000" y="1548000"/>
            <a:ext cx="522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ROUTE FACTS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32000" y="1782000"/>
            <a:ext cx="5220000" cy="282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Threat served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Destination area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Distance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Primary roads/turns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Likely congestion or closure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Route-specific hazard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012000" y="1548000"/>
            <a:ext cx="5220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CHECKPOINTS + FAILURE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012000" y="1782000"/>
            <a:ext cx="5220000" cy="282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Navigation checkpoint 1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Navigation checkpoint 2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Decision checkpoint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If the route fails, we…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32000" y="4932000"/>
            <a:ext cx="10800000" cy="612000"/>
          </a:xfrm>
          <a:prstGeom prst="rect">
            <a:avLst/>
          </a:prstGeom>
          <a:solidFill>
            <a:srgbClr val="fff3cb"/>
          </a:solidFill>
          <a:ln w="10080">
            <a:noFill/>
          </a:ln>
        </p:spPr>
        <p:txBody>
          <a:bodyPr lIns="144000" rIns="144000" tIns="144000" bIns="144000" anchor="t">
            <a:noAutofit/>
          </a:bodyPr>
          <a:p>
            <a:r>
              <a:rPr b="1" lang="en-US" sz="1600" spc="-1" strike="noStrike">
                <a:solidFill>
                  <a:srgbClr val="18211b"/>
                </a:solidFill>
                <a:latin typeface="Arial"/>
              </a:rPr>
              <a:t>Explain why Route B is safer for Threat B—not merely a backup road to the same place.</a:t>
            </a:r>
            <a:endParaRPr b="1" lang="en-US" sz="1600" spc="-1" strike="noStrike">
              <a:solidFill>
                <a:srgbClr val="18211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EVACUATION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HOW THE HOUSEHOLD MOVES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Compare vehicle, bicycle, foot, public, or assisted transportation honestly.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KNOW WHEN TO LEAVE  •  07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432000" y="1548000"/>
            <a:ext cx="3456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PRIMARY MODE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432000" y="1782000"/>
            <a:ext cx="3456000" cy="2754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[Mode]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Why it fits everyone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Travel-time or range calculation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4104000" y="1548000"/>
            <a:ext cx="3456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FALLBACK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4104000" y="1782000"/>
            <a:ext cx="3456000" cy="2754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[Mode]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Trigger for switching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New limitation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7776000" y="1548000"/>
            <a:ext cx="3456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WEAKEST LINK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776000" y="1782000"/>
            <a:ext cx="3456000" cy="2754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Slowest traveler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Weather / fuel / traffic / daylight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What the plan cannot solve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432000" y="4896000"/>
            <a:ext cx="10800000" cy="68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162000" rIns="162000" tIns="162000" bIns="162000" anchor="t">
            <a:noAutofit/>
          </a:bodyPr>
          <a:p>
            <a:r>
              <a:rPr b="1" lang="en-US" sz="1700" spc="-1" strike="noStrike">
                <a:solidFill>
                  <a:srgbClr val="ffffff"/>
                </a:solidFill>
                <a:latin typeface="Arial"/>
              </a:rPr>
              <a:t>Do not count on refueling, normal transit schedules, or roads remaining open during a mass evacuation.</a:t>
            </a:r>
            <a:endParaRPr b="1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EVACUATION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WHAT COMES WITH US?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Prioritize a movable load; every item has an opportunity cost.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KNOW WHEN TO LEAVE  •  08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432000" y="1548000"/>
            <a:ext cx="3456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CARRY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432000" y="1782000"/>
            <a:ext cx="3456000" cy="282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Essentials the plan cannot survive without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Show categories, not private labels.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104000" y="1548000"/>
            <a:ext cx="3456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IF SPACE PERMITS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4104000" y="1782000"/>
            <a:ext cx="3456000" cy="282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Useful or comfort items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What problem each solves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776000" y="1548000"/>
            <a:ext cx="3456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LEAVE / PROCURE?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7776000" y="1782000"/>
            <a:ext cx="3456000" cy="282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What stays behind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Verified resupply possibility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Unsafe assumption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432000" y="4932000"/>
            <a:ext cx="10800000" cy="612000"/>
          </a:xfrm>
          <a:prstGeom prst="rect">
            <a:avLst/>
          </a:prstGeom>
          <a:solidFill>
            <a:srgbClr val="fff3cb"/>
          </a:solidFill>
          <a:ln w="10080">
            <a:noFill/>
          </a:ln>
        </p:spPr>
        <p:txBody>
          <a:bodyPr lIns="162000" rIns="162000" tIns="162000" bIns="162000" anchor="t">
            <a:noAutofit/>
          </a:bodyPr>
          <a:p>
            <a:r>
              <a:rPr b="1" lang="en-US" sz="1700" spc="-1" strike="noStrike">
                <a:solidFill>
                  <a:srgbClr val="18211b"/>
                </a:solidFill>
                <a:latin typeface="Arial"/>
              </a:rPr>
              <a:t>Design for the fallback mode—not only for the trunk of a vehicle.</a:t>
            </a:r>
            <a:endParaRPr b="1" lang="en-US" sz="1700" spc="-1" strike="noStrike">
              <a:solidFill>
                <a:srgbClr val="18211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EVACUATION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LEAVE THE HOUSE WITHOUT LOSING TIME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Separate must-do actions from tasks that become dangerous delays.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KNOW WHEN TO LEAVE  •  09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432000" y="1548000"/>
            <a:ext cx="3456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MUST DO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32000" y="1782000"/>
            <a:ext cx="3456000" cy="282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People and pets count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Critical adult-managed items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Official utility instructions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Secure and leave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4104000" y="1548000"/>
            <a:ext cx="3456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IF TIME PERMITS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4104000" y="1782000"/>
            <a:ext cx="3456000" cy="282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Threat-specific protection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Food/power steps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Approved contact update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7776000" y="1548000"/>
            <a:ext cx="3456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SKIP WHEN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776000" y="1782000"/>
            <a:ext cx="3456000" cy="282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Departure trigger has passed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Conditions are worsening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The task does not protect life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432000" y="4932000"/>
            <a:ext cx="10800000" cy="612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162000" rIns="162000" tIns="162000" bIns="162000" anchor="t">
            <a:noAutofit/>
          </a:bodyPr>
          <a:p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No house is worth missing the safe departure window.</a:t>
            </a:r>
            <a:endParaRPr b="1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EVACUATION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OFFLINE NAVIGATION + COMMUNICATION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A saved phone map is useful, but it cannot be the only plan.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KNOW WHEN TO LEAVE  •  10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432000" y="1548000"/>
            <a:ext cx="522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OFFLINE NAVIGATION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432000" y="1782000"/>
            <a:ext cx="5220000" cy="2934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Paper map/directions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Checkpoint names + distances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North arrow / compass orientation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Route-change rule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Private destination details held by adult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6012000" y="1548000"/>
            <a:ext cx="5220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PACE + SEPARATION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6012000" y="1782000"/>
            <a:ext cx="5220000" cy="2934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Primary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Alternate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Contingency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Emergency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If separated, everyone…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Official information comes from…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432000" y="5040000"/>
            <a:ext cx="10800000" cy="504000"/>
          </a:xfrm>
          <a:prstGeom prst="rect">
            <a:avLst/>
          </a:prstGeom>
          <a:solidFill>
            <a:srgbClr val="fff3cb"/>
          </a:solidFill>
          <a:ln w="10080">
            <a:noFill/>
          </a:ln>
        </p:spPr>
        <p:txBody>
          <a:bodyPr lIns="144000" rIns="144000" tIns="144000" bIns="144000" anchor="t">
            <a:noAutofit/>
          </a:bodyPr>
          <a:p>
            <a:r>
              <a:rPr b="1" lang="en-US" sz="1600" spc="-1" strike="noStrike">
                <a:solidFill>
                  <a:srgbClr val="18211b"/>
                </a:solidFill>
                <a:latin typeface="Arial"/>
              </a:rPr>
              <a:t>Do not include real phone numbers, private addresses, passwords, or hidden meeting places.</a:t>
            </a:r>
            <a:endParaRPr b="1" lang="en-US" sz="1600" spc="-1" strike="noStrike">
              <a:solidFill>
                <a:srgbClr val="18211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EVACUATION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WHEN THE PLAN BREAKS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Show how decisions change when reality defeats an assumption.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KNOW WHEN TO LEAVE  •  11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432000" y="1548000"/>
            <a:ext cx="522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FAILURE TEST 1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432000" y="1782000"/>
            <a:ext cx="5220000" cy="2898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[Road closes / departure delayed / no fuel / pace slows]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What fails?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What evidence reaches the decision checkpoint?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What does the household do?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6012000" y="1548000"/>
            <a:ext cx="5220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FAILURE TEST 2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6012000" y="1782000"/>
            <a:ext cx="5220000" cy="2898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[Destination unavailable / hazard shifts / weather changes]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What fails?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What evidence reaches the decision checkpoint?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What does the household do?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432000" y="5004000"/>
            <a:ext cx="10800000" cy="540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162000" rIns="162000" tIns="162000" bIns="162000" anchor="t">
            <a:noAutofit/>
          </a:bodyPr>
          <a:p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Most fragile assumption: ______________________________</a:t>
            </a:r>
            <a:endParaRPr b="1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EVACUATION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RECOMMENDATION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End with a conditional decision, not a promise of certainty.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KNOW WHEN TO LEAVE  •  12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432000" y="1548000"/>
            <a:ext cx="702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OUR PLAN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432000" y="1782000"/>
            <a:ext cx="7020000" cy="2970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We should leave voluntarily when…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For Threat A, take Route A toward…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For Threat B, take Route B toward…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Primary mode…  Fallback…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8211b"/>
                </a:solidFill>
                <a:latin typeface="Arial"/>
              </a:rPr>
              <a:t>The first decision to make now is…</a:t>
            </a:r>
            <a:endParaRPr b="0" lang="en-US" sz="18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812000" y="1548000"/>
            <a:ext cx="3420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HOUSEHOLD RESPONSE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7812000" y="1782000"/>
            <a:ext cx="3420000" cy="2970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700" spc="-1" strike="noStrike">
                <a:solidFill>
                  <a:srgbClr val="18211b"/>
                </a:solidFill>
                <a:latin typeface="Arial"/>
              </a:rPr>
              <a:t>Someone agreed, questioned, or changed…</a:t>
            </a:r>
            <a:endParaRPr b="0" lang="en-US" sz="17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7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700" spc="-1" strike="noStrike">
                <a:solidFill>
                  <a:srgbClr val="18211b"/>
                </a:solidFill>
                <a:latin typeface="Arial"/>
              </a:rPr>
              <a:t>I revised…</a:t>
            </a:r>
            <a:endParaRPr b="0" lang="en-US" sz="17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7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700" spc="-1" strike="noStrike">
                <a:solidFill>
                  <a:srgbClr val="18211b"/>
                </a:solidFill>
                <a:latin typeface="Arial"/>
              </a:rPr>
              <a:t>What this reveals about decisions under uncertainty…</a:t>
            </a:r>
            <a:endParaRPr b="0" lang="en-US" sz="17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432000" y="5004000"/>
            <a:ext cx="10800000" cy="540000"/>
          </a:xfrm>
          <a:prstGeom prst="rect">
            <a:avLst/>
          </a:prstGeom>
          <a:solidFill>
            <a:srgbClr val="fff3cb"/>
          </a:solidFill>
          <a:ln w="10080">
            <a:noFill/>
          </a:ln>
        </p:spPr>
        <p:txBody>
          <a:bodyPr lIns="144000" rIns="144000" tIns="144000" bIns="144000" anchor="t">
            <a:noAutofit/>
          </a:bodyPr>
          <a:p>
            <a:r>
              <a:rPr b="1" lang="en-US" sz="1600" spc="-1" strike="noStrike">
                <a:solidFill>
                  <a:srgbClr val="18211b"/>
                </a:solidFill>
                <a:latin typeface="Arial"/>
              </a:rPr>
              <a:t>Cite at least four sources and credit every map or image on this slide or a separate Sources slide.</a:t>
            </a:r>
            <a:endParaRPr b="1" lang="en-US" sz="1600" spc="-1" strike="noStrike">
              <a:solidFill>
                <a:srgbClr val="18211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2026-09-02T09:26:10Z</dcterms:modified>
  <cp:revision>1</cp:revision>
  <dc:subject/>
  <dc:title/>
</cp:coreProperties>
</file>
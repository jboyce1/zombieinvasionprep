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B1C9ED-573F-45EB-8BF5-818618B868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6E06DA-F4DE-4B66-B518-5BEF72AAEC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05F7B64-CAD6-401B-A13A-C7811AAA5D5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4e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0" y="0"/>
            <a:ext cx="223200" cy="6858000"/>
          </a:xfrm>
          <a:prstGeom prst="rect">
            <a:avLst/>
          </a:prstGeom>
          <a:solidFill>
            <a:srgbClr val="d8a92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432000" y="216000"/>
            <a:ext cx="10872000" cy="198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49664d"/>
                </a:solidFill>
                <a:latin typeface="Arial"/>
              </a:rPr>
              <a:t>TITLE</a:t>
            </a:r>
            <a:endParaRPr b="1" lang="en-US" sz="1100" spc="-1" strike="noStrike">
              <a:solidFill>
                <a:srgbClr val="49664d"/>
              </a:solidFill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432000" y="450000"/>
            <a:ext cx="10872000" cy="576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18211b"/>
                </a:solidFill>
                <a:latin typeface="Arial"/>
              </a:rPr>
              <a:t>LOCKDOWN AT HOME</a:t>
            </a:r>
            <a:endParaRPr b="1" lang="en-US" sz="3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432000" y="990000"/>
            <a:ext cx="10872000" cy="324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526158"/>
                </a:solidFill>
                <a:latin typeface="Arial"/>
              </a:rPr>
              <a:t>A realistic household continuity briefing</a:t>
            </a:r>
            <a:endParaRPr b="0" lang="en-US" sz="16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432000" y="6516000"/>
            <a:ext cx="10872000" cy="180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526158"/>
                </a:solidFill>
                <a:latin typeface="Arial"/>
              </a:rPr>
              <a:t>LOCKDOWN AT HOME  •  01</a:t>
            </a:r>
            <a:endParaRPr b="0" lang="en-US" sz="10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432000" y="1800000"/>
            <a:ext cx="10260000" cy="140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234000" rIns="234000" tIns="234000" bIns="234000" anchor="t">
            <a:noAutofit/>
          </a:bodyPr>
          <a:p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How long could your household shelter safely without electricity, running water, or sewer service?</a:t>
            </a:r>
            <a:endParaRPr b="1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432000" y="3348000"/>
            <a:ext cx="7740000" cy="828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80000" rIns="180000" tIns="180000" bIns="180000" anchor="t">
            <a:noAutofit/>
          </a:bodyPr>
          <a:p>
            <a:r>
              <a:rPr b="0" lang="en-US" sz="2000" spc="-1" strike="noStrike">
                <a:solidFill>
                  <a:srgbClr val="18211b"/>
                </a:solidFill>
                <a:latin typeface="Arial"/>
              </a:rPr>
              <a:t>Prepared by</a:t>
            </a:r>
            <a:endParaRPr b="0" lang="en-US" sz="20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18211b"/>
                </a:solidFill>
                <a:latin typeface="Arial"/>
              </a:rPr>
              <a:t>[YOUR NAME]</a:t>
            </a:r>
            <a:endParaRPr b="0" lang="en-US" sz="20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18211b"/>
                </a:solidFill>
                <a:latin typeface="Arial"/>
              </a:rPr>
              <a:t>[DATE]</a:t>
            </a:r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8532000" y="3348000"/>
            <a:ext cx="2520000" cy="828000"/>
          </a:xfrm>
          <a:prstGeom prst="rect">
            <a:avLst/>
          </a:prstGeom>
          <a:solidFill>
            <a:srgbClr val="e8efe7"/>
          </a:solidFill>
          <a:ln w="10080">
            <a:noFill/>
          </a:ln>
        </p:spPr>
        <p:txBody>
          <a:bodyPr lIns="162000" rIns="162000" tIns="162000" bIns="162000" anchor="t">
            <a:noAutofit/>
          </a:bodyPr>
          <a:p>
            <a:r>
              <a:rPr b="0" lang="en-US" sz="1400" spc="-1" strike="noStrike">
                <a:solidFill>
                  <a:srgbClr val="526158"/>
                </a:solidFill>
                <a:latin typeface="Arial"/>
              </a:rPr>
              <a:t>VISUAL</a:t>
            </a:r>
            <a:endParaRPr b="0" lang="en-US" sz="1400" spc="-1" strike="noStrike">
              <a:solidFill>
                <a:srgbClr val="526158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526158"/>
                </a:solidFill>
                <a:latin typeface="Arial"/>
              </a:rPr>
              <a:t>Photo, icon, or simple graphic</a:t>
            </a:r>
            <a:endParaRPr b="0" lang="en-US" sz="14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432000" y="4968000"/>
            <a:ext cx="10620000" cy="576000"/>
          </a:xfrm>
          <a:prstGeom prst="rect">
            <a:avLst/>
          </a:prstGeom>
          <a:solidFill>
            <a:srgbClr val="fff3cb"/>
          </a:solidFill>
          <a:ln w="10080">
            <a:noFill/>
          </a:ln>
        </p:spPr>
        <p:txBody>
          <a:bodyPr lIns="162000" rIns="162000" tIns="162000" bIns="162000" anchor="t">
            <a:noAutofit/>
          </a:bodyPr>
          <a:p>
            <a:r>
              <a:rPr b="1" lang="en-US" sz="1500" spc="-1" strike="noStrike">
                <a:solidFill>
                  <a:srgbClr val="18211b"/>
                </a:solidFill>
                <a:latin typeface="Arial"/>
              </a:rPr>
              <a:t>Privacy rule: no names of household members, address, diagnoses, medication names, valuables, weapons, entry points, passwords, or security details.</a:t>
            </a:r>
            <a:endParaRPr b="1" lang="en-US" sz="1500" spc="-1" strike="noStrike">
              <a:solidFill>
                <a:srgbClr val="18211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4e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0" y="0"/>
            <a:ext cx="223200" cy="6858000"/>
          </a:xfrm>
          <a:prstGeom prst="rect">
            <a:avLst/>
          </a:prstGeom>
          <a:solidFill>
            <a:srgbClr val="d8a92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432000" y="216000"/>
            <a:ext cx="10872000" cy="198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49664d"/>
                </a:solidFill>
                <a:latin typeface="Arial"/>
              </a:rPr>
              <a:t>HOUSEHOLD BRIEFING</a:t>
            </a:r>
            <a:endParaRPr b="1" lang="en-US" sz="1100" spc="-1" strike="noStrike">
              <a:solidFill>
                <a:srgbClr val="49664d"/>
              </a:solidFill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432000" y="450000"/>
            <a:ext cx="10872000" cy="576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18211b"/>
                </a:solidFill>
                <a:latin typeface="Arial"/>
              </a:rPr>
              <a:t>WHO ARE WE PLANNING FOR?</a:t>
            </a:r>
            <a:endParaRPr b="1" lang="en-US" sz="3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432000" y="990000"/>
            <a:ext cx="10872000" cy="324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526158"/>
                </a:solidFill>
                <a:latin typeface="Arial"/>
              </a:rPr>
              <a:t>Give the audience enough context—without exposing private information.</a:t>
            </a:r>
            <a:endParaRPr b="0" lang="en-US" sz="16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432000" y="6516000"/>
            <a:ext cx="10872000" cy="180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526158"/>
                </a:solidFill>
                <a:latin typeface="Arial"/>
              </a:rPr>
              <a:t>LOCKDOWN AT HOME  •  02</a:t>
            </a:r>
            <a:endParaRPr b="0" lang="en-US" sz="10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432000" y="1548000"/>
            <a:ext cx="5220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HOUSEHOLD SNAPSHOT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432000" y="1782000"/>
            <a:ext cx="5220000" cy="3150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___ adults, ___ teenagers, ___ younger children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___ pets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General needs that affect the plan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The most important assumption you made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6012000" y="1548000"/>
            <a:ext cx="5220000" cy="234000"/>
          </a:xfrm>
          <a:prstGeom prst="rect">
            <a:avLst/>
          </a:prstGeom>
          <a:solidFill>
            <a:srgbClr val="49664d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YOUR DESIGN CHOICE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6012000" y="1782000"/>
            <a:ext cx="5220000" cy="3150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Show this information in the clearest form for you: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a few large numbers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icons or a simple chart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short labels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one brief explanation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 txBox="1"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4e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0" y="0"/>
            <a:ext cx="223200" cy="6858000"/>
          </a:xfrm>
          <a:prstGeom prst="rect">
            <a:avLst/>
          </a:prstGeom>
          <a:solidFill>
            <a:srgbClr val="d8a92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432000" y="216000"/>
            <a:ext cx="10872000" cy="198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49664d"/>
                </a:solidFill>
                <a:latin typeface="Arial"/>
              </a:rPr>
              <a:t>HOUSEHOLD BRIEFING</a:t>
            </a:r>
            <a:endParaRPr b="1" lang="en-US" sz="1100" spc="-1" strike="noStrike">
              <a:solidFill>
                <a:srgbClr val="49664d"/>
              </a:solidFill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432000" y="450000"/>
            <a:ext cx="10872000" cy="576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18211b"/>
                </a:solidFill>
                <a:latin typeface="Arial"/>
              </a:rPr>
              <a:t>THE ANSWER: ___ SAFE DAYS</a:t>
            </a:r>
            <a:endParaRPr b="1" lang="en-US" sz="3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432000" y="990000"/>
            <a:ext cx="10872000" cy="324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526158"/>
                </a:solidFill>
                <a:latin typeface="Arial"/>
              </a:rPr>
              <a:t>Lead with your conclusion, then identify the system that limits it.</a:t>
            </a:r>
            <a:endParaRPr b="0" lang="en-US" sz="16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432000" y="6516000"/>
            <a:ext cx="10872000" cy="180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526158"/>
                </a:solidFill>
                <a:latin typeface="Arial"/>
              </a:rPr>
              <a:t>LOCKDOWN AT HOME  •  03</a:t>
            </a:r>
            <a:endParaRPr b="0" lang="en-US" sz="10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432000" y="1548000"/>
            <a:ext cx="4140000" cy="3060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288000" rIns="288000" tIns="288000" bIns="288000" anchor="t">
            <a:noAutofit/>
          </a:bodyPr>
          <a:p>
            <a:r>
              <a:rPr b="1" lang="en-US" sz="4000" spc="-1" strike="noStrike">
                <a:solidFill>
                  <a:srgbClr val="ffffff"/>
                </a:solidFill>
                <a:latin typeface="Arial"/>
              </a:rPr>
              <a:t>___ DAYS</a:t>
            </a:r>
            <a:endParaRPr b="1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4932000" y="1548000"/>
            <a:ext cx="6300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THE BOTTLENECK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4932000" y="1782000"/>
            <a:ext cx="6300000" cy="1206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[Water / food / sanitation / critical supply / temperature] limits us first because…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4932000" y="3168000"/>
            <a:ext cx="6300000" cy="234000"/>
          </a:xfrm>
          <a:prstGeom prst="rect">
            <a:avLst/>
          </a:prstGeom>
          <a:solidFill>
            <a:srgbClr val="49664d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CONFIDENCE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4932000" y="3402000"/>
            <a:ext cx="6300000" cy="1206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Our estimate is [high / medium / low] confidence because…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432000" y="4932000"/>
            <a:ext cx="10800000" cy="648000"/>
          </a:xfrm>
          <a:prstGeom prst="rect">
            <a:avLst/>
          </a:prstGeom>
          <a:solidFill>
            <a:srgbClr val="e8efe7"/>
          </a:solidFill>
          <a:ln w="10080">
            <a:noFill/>
          </a:ln>
        </p:spPr>
        <p:txBody>
          <a:bodyPr lIns="144000" rIns="144000" tIns="144000" bIns="144000" anchor="t">
            <a:noAutofit/>
          </a:bodyPr>
          <a:p>
            <a:r>
              <a:rPr b="0" lang="en-US" sz="1600" spc="-1" strike="noStrike">
                <a:solidFill>
                  <a:srgbClr val="526158"/>
                </a:solidFill>
                <a:latin typeface="Arial"/>
              </a:rPr>
              <a:t>Evidence to show: a simple timeline or five-bar comparison.</a:t>
            </a:r>
            <a:endParaRPr b="0" lang="en-US" sz="1600" spc="-1" strike="noStrike">
              <a:solidFill>
                <a:srgbClr val="526158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 txBox="1"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4e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0" y="0"/>
            <a:ext cx="223200" cy="6858000"/>
          </a:xfrm>
          <a:prstGeom prst="rect">
            <a:avLst/>
          </a:prstGeom>
          <a:solidFill>
            <a:srgbClr val="d8a92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432000" y="216000"/>
            <a:ext cx="10872000" cy="198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49664d"/>
                </a:solidFill>
                <a:latin typeface="Arial"/>
              </a:rPr>
              <a:t>HOUSEHOLD BRIEFING</a:t>
            </a:r>
            <a:endParaRPr b="1" lang="en-US" sz="1100" spc="-1" strike="noStrike">
              <a:solidFill>
                <a:srgbClr val="49664d"/>
              </a:solidFill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32000" y="450000"/>
            <a:ext cx="10872000" cy="576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18211b"/>
                </a:solidFill>
                <a:latin typeface="Arial"/>
              </a:rPr>
              <a:t>WATER + FOOD</a:t>
            </a:r>
            <a:endParaRPr b="1" lang="en-US" sz="3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32000" y="990000"/>
            <a:ext cx="10872000" cy="324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526158"/>
                </a:solidFill>
                <a:latin typeface="Arial"/>
              </a:rPr>
              <a:t>Present the math that supports your estimate; summarize the inventory.</a:t>
            </a:r>
            <a:endParaRPr b="0" lang="en-US" sz="16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432000" y="6516000"/>
            <a:ext cx="10872000" cy="180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526158"/>
                </a:solidFill>
                <a:latin typeface="Arial"/>
              </a:rPr>
              <a:t>LOCKDOWN AT HOME  •  04</a:t>
            </a:r>
            <a:endParaRPr b="0" lang="en-US" sz="10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32000" y="1548000"/>
            <a:ext cx="5220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WATER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432000" y="1782000"/>
            <a:ext cx="5220000" cy="2826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Planning baseline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___ gallons ÷ ___ people = ___ days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What could change the estimate?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[One sentence]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Evidence: container icons or one bar.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6012000" y="1548000"/>
            <a:ext cx="5220000" cy="234000"/>
          </a:xfrm>
          <a:prstGeom prst="rect">
            <a:avLst/>
          </a:prstGeom>
          <a:solidFill>
            <a:srgbClr val="49664d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FOOD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6012000" y="1782000"/>
            <a:ext cx="5220000" cy="2826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Counting method: [meals / servings / calories]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___ usable units ÷ ___ units/day = ___ days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What could change the estimate?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[One sentence]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Evidence: categories, not every item.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432000" y="4932000"/>
            <a:ext cx="10800000" cy="612000"/>
          </a:xfrm>
          <a:prstGeom prst="rect">
            <a:avLst/>
          </a:prstGeom>
          <a:solidFill>
            <a:srgbClr val="fff3cb"/>
          </a:solidFill>
          <a:ln w="10080">
            <a:noFill/>
          </a:ln>
        </p:spPr>
        <p:txBody>
          <a:bodyPr lIns="144000" rIns="144000" tIns="144000" bIns="144000" anchor="t">
            <a:noAutofit/>
          </a:bodyPr>
          <a:p>
            <a:r>
              <a:rPr b="1" lang="en-US" sz="1600" spc="-1" strike="noStrike">
                <a:solidFill>
                  <a:srgbClr val="18211b"/>
                </a:solidFill>
                <a:latin typeface="Arial"/>
              </a:rPr>
              <a:t>Keep detailed counts in the workbook. This slide needs only the calculation, strongest evidence, and major limitation.</a:t>
            </a:r>
            <a:endParaRPr b="1" lang="en-US" sz="1600" spc="-1" strike="noStrike">
              <a:solidFill>
                <a:srgbClr val="18211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 txBox="1"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4e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0" y="0"/>
            <a:ext cx="223200" cy="6858000"/>
          </a:xfrm>
          <a:prstGeom prst="rect">
            <a:avLst/>
          </a:prstGeom>
          <a:solidFill>
            <a:srgbClr val="d8a92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432000" y="216000"/>
            <a:ext cx="10872000" cy="198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49664d"/>
                </a:solidFill>
                <a:latin typeface="Arial"/>
              </a:rPr>
              <a:t>HOUSEHOLD BRIEFING</a:t>
            </a:r>
            <a:endParaRPr b="1" lang="en-US" sz="1100" spc="-1" strike="noStrike">
              <a:solidFill>
                <a:srgbClr val="49664d"/>
              </a:solidFill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432000" y="450000"/>
            <a:ext cx="10872000" cy="576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18211b"/>
                </a:solidFill>
                <a:latin typeface="Arial"/>
              </a:rPr>
              <a:t>SANITATION + BASIC NEEDS</a:t>
            </a:r>
            <a:endParaRPr b="1" lang="en-US" sz="3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32000" y="990000"/>
            <a:ext cx="10872000" cy="324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526158"/>
                </a:solidFill>
                <a:latin typeface="Arial"/>
              </a:rPr>
              <a:t>Explain how the household stays healthy when toilets, sinks, and trash pickup stop.</a:t>
            </a:r>
            <a:endParaRPr b="0" lang="en-US" sz="16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432000" y="6516000"/>
            <a:ext cx="10872000" cy="180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526158"/>
                </a:solidFill>
                <a:latin typeface="Arial"/>
              </a:rPr>
              <a:t>LOCKDOWN AT HOME  •  05</a:t>
            </a:r>
            <a:endParaRPr b="0" lang="en-US" sz="10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432000" y="1548000"/>
            <a:ext cx="10800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THE SANITATION SYSTEM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32000" y="1782000"/>
            <a:ext cx="10800000" cy="1170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Hand cleaning  •  toilet arrangement  •  separation and containment  •  trash and odors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432000" y="3132000"/>
            <a:ext cx="5220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WHAT WE CAN MANAGE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432000" y="3366000"/>
            <a:ext cx="5220000" cy="1242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Summarize useful hygiene, light, temperature, health, pet, and morale resources.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6012000" y="3132000"/>
            <a:ext cx="5220000" cy="234000"/>
          </a:xfrm>
          <a:prstGeom prst="rect">
            <a:avLst/>
          </a:prstGeom>
          <a:solidFill>
            <a:srgbClr val="49664d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FAILURE TRIGGER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6012000" y="3366000"/>
            <a:ext cx="5220000" cy="1242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Sanitation or another basic need becomes unsafe when…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432000" y="4932000"/>
            <a:ext cx="10800000" cy="576000"/>
          </a:xfrm>
          <a:prstGeom prst="rect">
            <a:avLst/>
          </a:prstGeom>
          <a:solidFill>
            <a:srgbClr val="fff3cb"/>
          </a:solidFill>
          <a:ln w="10080">
            <a:noFill/>
          </a:ln>
        </p:spPr>
        <p:txBody>
          <a:bodyPr lIns="144000" rIns="144000" tIns="144000" bIns="144000" anchor="t">
            <a:noAutofit/>
          </a:bodyPr>
          <a:p>
            <a:r>
              <a:rPr b="1" lang="en-US" sz="1600" spc="-1" strike="noStrike">
                <a:solidFill>
                  <a:srgbClr val="18211b"/>
                </a:solidFill>
                <a:latin typeface="Arial"/>
              </a:rPr>
              <a:t>Safety boundary: do not demonstrate waste handling, mix chemicals, or include private medical details.</a:t>
            </a:r>
            <a:endParaRPr b="1" lang="en-US" sz="1600" spc="-1" strike="noStrike">
              <a:solidFill>
                <a:srgbClr val="18211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 txBox="1"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4e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0" y="0"/>
            <a:ext cx="223200" cy="6858000"/>
          </a:xfrm>
          <a:prstGeom prst="rect">
            <a:avLst/>
          </a:prstGeom>
          <a:solidFill>
            <a:srgbClr val="d8a92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432000" y="216000"/>
            <a:ext cx="10872000" cy="198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49664d"/>
                </a:solidFill>
                <a:latin typeface="Arial"/>
              </a:rPr>
              <a:t>HOUSEHOLD BRIEFING</a:t>
            </a:r>
            <a:endParaRPr b="1" lang="en-US" sz="1100" spc="-1" strike="noStrike">
              <a:solidFill>
                <a:srgbClr val="49664d"/>
              </a:solidFill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32000" y="450000"/>
            <a:ext cx="10872000" cy="576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18211b"/>
                </a:solidFill>
                <a:latin typeface="Arial"/>
              </a:rPr>
              <a:t>DAY 1 DECISIONS</a:t>
            </a:r>
            <a:endParaRPr b="1" lang="en-US" sz="3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432000" y="990000"/>
            <a:ext cx="10872000" cy="324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526158"/>
                </a:solidFill>
                <a:latin typeface="Arial"/>
              </a:rPr>
              <a:t>Show the rules your household would decide before scarcity creates conflict.</a:t>
            </a:r>
            <a:endParaRPr b="0" lang="en-US" sz="16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432000" y="6516000"/>
            <a:ext cx="10872000" cy="180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526158"/>
                </a:solidFill>
                <a:latin typeface="Arial"/>
              </a:rPr>
              <a:t>LOCKDOWN AT HOME  •  06</a:t>
            </a:r>
            <a:endParaRPr b="0" lang="en-US" sz="10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32000" y="1548000"/>
            <a:ext cx="3456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RATIONING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432000" y="1782000"/>
            <a:ext cx="3456000" cy="2862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Rule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Reason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Trigger for change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4104000" y="1548000"/>
            <a:ext cx="3456000" cy="234000"/>
          </a:xfrm>
          <a:prstGeom prst="rect">
            <a:avLst/>
          </a:prstGeom>
          <a:solidFill>
            <a:srgbClr val="49664d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ROLES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104000" y="1782000"/>
            <a:ext cx="3456000" cy="2862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Key responsibilities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Backups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How disagreements are resolved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7776000" y="1548000"/>
            <a:ext cx="3456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FAIRNESS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7776000" y="1782000"/>
            <a:ext cx="3456000" cy="2862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Why fair may not mean equal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Needs that must be protected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How supplies are logged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32000" y="4932000"/>
            <a:ext cx="10800000" cy="576000"/>
          </a:xfrm>
          <a:prstGeom prst="rect">
            <a:avLst/>
          </a:prstGeom>
          <a:solidFill>
            <a:srgbClr val="e8efe7"/>
          </a:solidFill>
          <a:ln w="10080">
            <a:noFill/>
          </a:ln>
        </p:spPr>
        <p:txBody>
          <a:bodyPr lIns="144000" rIns="144000" tIns="144000" bIns="144000" anchor="t">
            <a:noAutofit/>
          </a:bodyPr>
          <a:p>
            <a:r>
              <a:rPr b="0" lang="en-US" sz="1600" spc="-1" strike="noStrike">
                <a:solidFill>
                  <a:srgbClr val="526158"/>
                </a:solidFill>
                <a:latin typeface="Arial"/>
              </a:rPr>
              <a:t>Use short phrases, a flowchart, or a table.</a:t>
            </a:r>
            <a:endParaRPr b="0" lang="en-US" sz="1600" spc="-1" strike="noStrike">
              <a:solidFill>
                <a:srgbClr val="526158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 txBox="1"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4e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0" y="0"/>
            <a:ext cx="223200" cy="6858000"/>
          </a:xfrm>
          <a:prstGeom prst="rect">
            <a:avLst/>
          </a:prstGeom>
          <a:solidFill>
            <a:srgbClr val="d8a92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432000" y="216000"/>
            <a:ext cx="10872000" cy="198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49664d"/>
                </a:solidFill>
                <a:latin typeface="Arial"/>
              </a:rPr>
              <a:t>HOUSEHOLD BRIEFING</a:t>
            </a:r>
            <a:endParaRPr b="1" lang="en-US" sz="1100" spc="-1" strike="noStrike">
              <a:solidFill>
                <a:srgbClr val="49664d"/>
              </a:solidFill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432000" y="450000"/>
            <a:ext cx="10872000" cy="576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18211b"/>
                </a:solidFill>
                <a:latin typeface="Arial"/>
              </a:rPr>
              <a:t>NEIGHBORS: MUTUAL AID OR RISK?</a:t>
            </a:r>
            <a:endParaRPr b="1" lang="en-US" sz="3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432000" y="990000"/>
            <a:ext cx="10872000" cy="324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526158"/>
                </a:solidFill>
                <a:latin typeface="Arial"/>
              </a:rPr>
              <a:t>Make and defend a claim about cooperation under pressure.</a:t>
            </a:r>
            <a:endParaRPr b="0" lang="en-US" sz="16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432000" y="6516000"/>
            <a:ext cx="10872000" cy="180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526158"/>
                </a:solidFill>
                <a:latin typeface="Arial"/>
              </a:rPr>
              <a:t>LOCKDOWN AT HOME  •  07</a:t>
            </a:r>
            <a:endParaRPr b="0" lang="en-US" sz="10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432000" y="1548000"/>
            <a:ext cx="5220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COST–BENEFIT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432000" y="1782000"/>
            <a:ext cx="5220000" cy="2826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Possible benefits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• …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• …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Possible costs or risks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• …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• …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6012000" y="1548000"/>
            <a:ext cx="5220000" cy="234000"/>
          </a:xfrm>
          <a:prstGeom prst="rect">
            <a:avLst/>
          </a:prstGeom>
          <a:solidFill>
            <a:srgbClr val="49664d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THE BOUNDARY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6012000" y="1782000"/>
            <a:ext cx="5220000" cy="2826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We could share…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We would keep private…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Requests would be handled by…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Either household could end the agreement by…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432000" y="4932000"/>
            <a:ext cx="10800000" cy="648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162000" rIns="162000" tIns="162000" bIns="162000" anchor="t">
            <a:noAutofit/>
          </a:bodyPr>
          <a:p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OUR CLAIM: This situation is most likely to produce [mutual aid / every household for itself / something in between] because…</a:t>
            </a:r>
            <a:endParaRPr b="1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 txBox="1"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4e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0" y="0"/>
            <a:ext cx="223200" cy="6858000"/>
          </a:xfrm>
          <a:prstGeom prst="rect">
            <a:avLst/>
          </a:prstGeom>
          <a:solidFill>
            <a:srgbClr val="d8a92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432000" y="216000"/>
            <a:ext cx="10872000" cy="198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49664d"/>
                </a:solidFill>
                <a:latin typeface="Arial"/>
              </a:rPr>
              <a:t>HOUSEHOLD BRIEFING</a:t>
            </a:r>
            <a:endParaRPr b="1" lang="en-US" sz="1100" spc="-1" strike="noStrike">
              <a:solidFill>
                <a:srgbClr val="49664d"/>
              </a:solidFill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432000" y="450000"/>
            <a:ext cx="10872000" cy="576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18211b"/>
                </a:solidFill>
                <a:latin typeface="Arial"/>
              </a:rPr>
              <a:t>COMMUNICATION + NONVIOLENT SAFETY</a:t>
            </a:r>
            <a:endParaRPr b="1" lang="en-US" sz="3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432000" y="990000"/>
            <a:ext cx="10872000" cy="324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526158"/>
                </a:solidFill>
                <a:latin typeface="Arial"/>
              </a:rPr>
              <a:t>Plan how information moves and how people avoid unnecessary danger.</a:t>
            </a:r>
            <a:endParaRPr b="0" lang="en-US" sz="16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432000" y="6516000"/>
            <a:ext cx="10872000" cy="180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526158"/>
                </a:solidFill>
                <a:latin typeface="Arial"/>
              </a:rPr>
              <a:t>LOCKDOWN AT HOME  •  08</a:t>
            </a:r>
            <a:endParaRPr b="0" lang="en-US" sz="10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432000" y="1548000"/>
            <a:ext cx="5220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PACE COMMUNICATIONS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432000" y="1782000"/>
            <a:ext cx="5220000" cy="2898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PRIMARY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[method + limitation]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ALTERNATE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[method + limitation]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CONTINGENCY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[method + limitation]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EMERGENCY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[method + safety rule]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6012000" y="1548000"/>
            <a:ext cx="5220000" cy="234000"/>
          </a:xfrm>
          <a:prstGeom prst="rect">
            <a:avLst/>
          </a:prstGeom>
          <a:solidFill>
            <a:srgbClr val="49664d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SAFETY BOUNDARIES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6012000" y="1782000"/>
            <a:ext cx="5220000" cy="2898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Prevent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[lawful, passive steps]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Respond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[move, alert, contact help]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Neighbor check-in boundary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[when not to approach]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No traps, confrontation plans, or weapon details.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 txBox="1"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4e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0" y="0"/>
            <a:ext cx="223200" cy="6858000"/>
          </a:xfrm>
          <a:prstGeom prst="rect">
            <a:avLst/>
          </a:prstGeom>
          <a:solidFill>
            <a:srgbClr val="d8a92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432000" y="216000"/>
            <a:ext cx="10872000" cy="198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49664d"/>
                </a:solidFill>
                <a:latin typeface="Arial"/>
              </a:rPr>
              <a:t>HOUSEHOLD BRIEFING</a:t>
            </a:r>
            <a:endParaRPr b="1" lang="en-US" sz="1100" spc="-1" strike="noStrike">
              <a:solidFill>
                <a:srgbClr val="49664d"/>
              </a:solidFill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432000" y="450000"/>
            <a:ext cx="10872000" cy="576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18211b"/>
                </a:solidFill>
                <a:latin typeface="Arial"/>
              </a:rPr>
              <a:t>WHAT WOULD EXTEND OUR TIME?</a:t>
            </a:r>
            <a:endParaRPr b="1" lang="en-US" sz="3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432000" y="990000"/>
            <a:ext cx="10872000" cy="324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526158"/>
                </a:solidFill>
                <a:latin typeface="Arial"/>
              </a:rPr>
              <a:t>Prioritize changes instead of producing an unlimited shopping list.</a:t>
            </a:r>
            <a:endParaRPr b="0" lang="en-US" sz="16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432000" y="6516000"/>
            <a:ext cx="10872000" cy="180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526158"/>
                </a:solidFill>
                <a:latin typeface="Arial"/>
              </a:rPr>
              <a:t>LOCKDOWN AT HOME  •  09</a:t>
            </a:r>
            <a:endParaRPr b="0" lang="en-US" sz="10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432000" y="1548000"/>
            <a:ext cx="3456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NO-COST CHANGE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432000" y="1782000"/>
            <a:ext cx="3456000" cy="2754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[Action]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Why it matters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Estimated effect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4104000" y="1548000"/>
            <a:ext cx="3456000" cy="234000"/>
          </a:xfrm>
          <a:prstGeom prst="rect">
            <a:avLst/>
          </a:prstGeom>
          <a:solidFill>
            <a:srgbClr val="49664d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LOW-COST PURCHASE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4104000" y="1782000"/>
            <a:ext cx="3456000" cy="2754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[Item]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Estimated price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Why it beats other purchases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7776000" y="1548000"/>
            <a:ext cx="3456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HUMAN AGREEMENT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7776000" y="1782000"/>
            <a:ext cx="3456000" cy="2754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[Decision or relationship]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Why this matters more than an object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432000" y="4896000"/>
            <a:ext cx="10800000" cy="68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180000" rIns="180000" tIns="180000" bIns="180000" anchor="t">
            <a:noAutofit/>
          </a:bodyPr>
          <a:p>
            <a:r>
              <a:rPr b="1" lang="en-US" sz="1900" spc="-1" strike="noStrike">
                <a:solidFill>
                  <a:srgbClr val="ffffff"/>
                </a:solidFill>
                <a:latin typeface="Arial"/>
              </a:rPr>
              <a:t>THE RECONSIDER TRIGGER: Sheltering at home is no longer safe when…</a:t>
            </a:r>
            <a:endParaRPr b="1" lang="en-US" sz="1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 txBox="1"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4e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0" y="0"/>
            <a:ext cx="223200" cy="6858000"/>
          </a:xfrm>
          <a:prstGeom prst="rect">
            <a:avLst/>
          </a:prstGeom>
          <a:solidFill>
            <a:srgbClr val="d8a92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432000" y="216000"/>
            <a:ext cx="10872000" cy="198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49664d"/>
                </a:solidFill>
                <a:latin typeface="Arial"/>
              </a:rPr>
              <a:t>HOUSEHOLD BRIEFING</a:t>
            </a:r>
            <a:endParaRPr b="1" lang="en-US" sz="1100" spc="-1" strike="noStrike">
              <a:solidFill>
                <a:srgbClr val="49664d"/>
              </a:solidFill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432000" y="450000"/>
            <a:ext cx="10872000" cy="576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18211b"/>
                </a:solidFill>
                <a:latin typeface="Arial"/>
              </a:rPr>
              <a:t>OUR FAMILY DAY 1 PLAN</a:t>
            </a:r>
            <a:endParaRPr b="1" lang="en-US" sz="3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432000" y="990000"/>
            <a:ext cx="10872000" cy="324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526158"/>
                </a:solidFill>
                <a:latin typeface="Arial"/>
              </a:rPr>
              <a:t>This slide should work as a stand-alone family briefing.</a:t>
            </a:r>
            <a:endParaRPr b="0" lang="en-US" sz="16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432000" y="6516000"/>
            <a:ext cx="10872000" cy="180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526158"/>
                </a:solidFill>
                <a:latin typeface="Arial"/>
              </a:rPr>
              <a:t>LOCKDOWN AT HOME  •  10</a:t>
            </a:r>
            <a:endParaRPr b="0" lang="en-US" sz="10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432000" y="1548000"/>
            <a:ext cx="10800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FIVE DECISIONS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432000" y="1782000"/>
            <a:ext cx="10800000" cy="2898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1. Roles: …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2. Rationing: …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3. Sanitation: …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4. Communication: …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5. Neighbor and safety boundary: …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432000" y="4932000"/>
            <a:ext cx="10800000" cy="648000"/>
          </a:xfrm>
          <a:prstGeom prst="rect">
            <a:avLst/>
          </a:prstGeom>
          <a:solidFill>
            <a:srgbClr val="fff3cb"/>
          </a:solidFill>
          <a:ln w="10080">
            <a:noFill/>
          </a:ln>
        </p:spPr>
        <p:txBody>
          <a:bodyPr lIns="162000" rIns="162000" tIns="162000" bIns="162000" anchor="t">
            <a:noAutofit/>
          </a:bodyPr>
          <a:p>
            <a:r>
              <a:rPr b="1" lang="en-US" sz="1700" spc="-1" strike="noStrike">
                <a:solidFill>
                  <a:srgbClr val="18211b"/>
                </a:solidFill>
                <a:latin typeface="Arial"/>
              </a:rPr>
              <a:t>Make this usable under stress: brief, specific, respectful, and easy to read from across a room.</a:t>
            </a:r>
            <a:endParaRPr b="1" lang="en-US" sz="1700" spc="-1" strike="noStrike">
              <a:solidFill>
                <a:srgbClr val="18211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"/>
          <p:cNvSpPr txBox="1"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4e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0" y="0"/>
            <a:ext cx="223200" cy="6858000"/>
          </a:xfrm>
          <a:prstGeom prst="rect">
            <a:avLst/>
          </a:prstGeom>
          <a:solidFill>
            <a:srgbClr val="d8a92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432000" y="216000"/>
            <a:ext cx="10872000" cy="198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49664d"/>
                </a:solidFill>
                <a:latin typeface="Arial"/>
              </a:rPr>
              <a:t>HOUSEHOLD BRIEFING</a:t>
            </a:r>
            <a:endParaRPr b="1" lang="en-US" sz="1100" spc="-1" strike="noStrike">
              <a:solidFill>
                <a:srgbClr val="49664d"/>
              </a:solidFill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432000" y="450000"/>
            <a:ext cx="10872000" cy="576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18211b"/>
                </a:solidFill>
                <a:latin typeface="Arial"/>
              </a:rPr>
              <a:t>RECOMMENDATION + REFLECTION</a:t>
            </a:r>
            <a:endParaRPr b="1" lang="en-US" sz="3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432000" y="990000"/>
            <a:ext cx="10872000" cy="324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526158"/>
                </a:solidFill>
                <a:latin typeface="Arial"/>
              </a:rPr>
              <a:t>Finish with decisions, not fear.</a:t>
            </a:r>
            <a:endParaRPr b="0" lang="en-US" sz="16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432000" y="6516000"/>
            <a:ext cx="10872000" cy="180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526158"/>
                </a:solidFill>
                <a:latin typeface="Arial"/>
              </a:rPr>
              <a:t>LOCKDOWN AT HOME  •  11</a:t>
            </a:r>
            <a:endParaRPr b="0" lang="en-US" sz="10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432000" y="1548000"/>
            <a:ext cx="5220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THREE DECISIONS TO MAKE NOW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432000" y="1782000"/>
            <a:ext cx="5220000" cy="2826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1. …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2. …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3. …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These should be realistic conversations or actions.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6012000" y="1548000"/>
            <a:ext cx="5220000" cy="234000"/>
          </a:xfrm>
          <a:prstGeom prst="rect">
            <a:avLst/>
          </a:prstGeom>
          <a:solidFill>
            <a:srgbClr val="49664d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WHAT CHANGED?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6012000" y="1782000"/>
            <a:ext cx="5220000" cy="2826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A household member agreed, questioned, or changed…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I revised…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Some decisions are best made before they are needed because…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432000" y="4932000"/>
            <a:ext cx="10800000" cy="576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162000" rIns="162000" tIns="162000" bIns="162000" anchor="t">
            <a:noAutofit/>
          </a:bodyPr>
          <a:p>
            <a:r>
              <a:rPr b="1" lang="en-US" sz="1700" spc="-1" strike="noStrike">
                <a:solidFill>
                  <a:srgbClr val="ffffff"/>
                </a:solidFill>
                <a:latin typeface="Arial"/>
              </a:rPr>
              <a:t>Closing line: What does this investigation suggest about people, trust, and scarcity?</a:t>
            </a:r>
            <a:endParaRPr b="1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 txBox="1"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4e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0" y="0"/>
            <a:ext cx="223200" cy="6858000"/>
          </a:xfrm>
          <a:prstGeom prst="rect">
            <a:avLst/>
          </a:prstGeom>
          <a:solidFill>
            <a:srgbClr val="d8a928"/>
          </a:solidFill>
          <a:ln w="1008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432000" y="216000"/>
            <a:ext cx="10872000" cy="198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49664d"/>
                </a:solidFill>
                <a:latin typeface="Arial"/>
              </a:rPr>
              <a:t>EVIDENCE</a:t>
            </a:r>
            <a:endParaRPr b="1" lang="en-US" sz="1100" spc="-1" strike="noStrike">
              <a:solidFill>
                <a:srgbClr val="49664d"/>
              </a:solidFill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432000" y="450000"/>
            <a:ext cx="10872000" cy="576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18211b"/>
                </a:solidFill>
                <a:latin typeface="Arial"/>
              </a:rPr>
              <a:t>SOURCES</a:t>
            </a:r>
            <a:endParaRPr b="1" lang="en-US" sz="30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432000" y="990000"/>
            <a:ext cx="10872000" cy="324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526158"/>
                </a:solidFill>
                <a:latin typeface="Arial"/>
              </a:rPr>
              <a:t>Cite at least three sources where they affected a number or decision.</a:t>
            </a:r>
            <a:endParaRPr b="0" lang="en-US" sz="16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432000" y="6516000"/>
            <a:ext cx="10872000" cy="180000"/>
          </a:xfrm>
          <a:prstGeom prst="rect">
            <a:avLst/>
          </a:prstGeom>
          <a:noFill/>
          <a:ln w="1008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526158"/>
                </a:solidFill>
                <a:latin typeface="Arial"/>
              </a:rPr>
              <a:t>LOCKDOWN AT HOME  •  12</a:t>
            </a:r>
            <a:endParaRPr b="0" lang="en-US" sz="1000" spc="-1" strike="noStrike">
              <a:solidFill>
                <a:srgbClr val="526158"/>
              </a:solidFill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432000" y="1548000"/>
            <a:ext cx="10800000" cy="234000"/>
          </a:xfrm>
          <a:prstGeom prst="rect">
            <a:avLst/>
          </a:prstGeom>
          <a:solidFill>
            <a:srgbClr val="263b2b"/>
          </a:solidFill>
          <a:ln w="10080">
            <a:noFill/>
          </a:ln>
        </p:spPr>
        <p:txBody>
          <a:bodyPr lIns="90000" rIns="90000" tIns="90000" bIns="9000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SOURCE LIST</a:t>
            </a:r>
            <a:endParaRPr b="1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432000" y="1782000"/>
            <a:ext cx="10800000" cy="3078000"/>
          </a:xfrm>
          <a:prstGeom prst="rect">
            <a:avLst/>
          </a:prstGeom>
          <a:solidFill>
            <a:srgbClr val="ffffff"/>
          </a:solidFill>
          <a:ln w="10080">
            <a:noFill/>
          </a:ln>
        </p:spPr>
        <p:txBody>
          <a:bodyPr lIns="136800" rIns="136800" tIns="136800" bIns="136800" anchor="t">
            <a:noAutofit/>
          </a:bodyPr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Use a readable list. Include organization, page title, and URL.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Starting sources: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Ready.gov — Water, Kit, and Make a Plan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CDC — Emergency Water Supply and Water Emergency Safety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USDA — Food Safety in an Emergency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National Weather Service — NOAA Weather Radio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endParaRPr b="0" lang="en-US" sz="1900" spc="-1" strike="noStrike">
              <a:solidFill>
                <a:srgbClr val="18211b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18211b"/>
                </a:solidFill>
                <a:latin typeface="Arial"/>
              </a:rPr>
              <a:t>Add any other sources used in your workbook.</a:t>
            </a:r>
            <a:endParaRPr b="0" lang="en-US" sz="1900" spc="-1" strike="noStrike">
              <a:solidFill>
                <a:srgbClr val="18211b"/>
              </a:solidFill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432000" y="5040000"/>
            <a:ext cx="10800000" cy="504000"/>
          </a:xfrm>
          <a:prstGeom prst="rect">
            <a:avLst/>
          </a:prstGeom>
          <a:solidFill>
            <a:srgbClr val="fff3cb"/>
          </a:solidFill>
          <a:ln w="10080">
            <a:noFill/>
          </a:ln>
        </p:spPr>
        <p:txBody>
          <a:bodyPr lIns="144000" rIns="144000" tIns="144000" bIns="144000" anchor="t">
            <a:noAutofit/>
          </a:bodyPr>
          <a:p>
            <a:r>
              <a:rPr b="1" lang="en-US" sz="1600" spc="-1" strike="noStrike">
                <a:solidFill>
                  <a:srgbClr val="18211b"/>
                </a:solidFill>
                <a:latin typeface="Arial"/>
              </a:rPr>
              <a:t>Final check: large text • limited words • visible calculations • no private details • every image credited</a:t>
            </a:r>
            <a:endParaRPr b="1" lang="en-US" sz="1600" spc="-1" strike="noStrike">
              <a:solidFill>
                <a:srgbClr val="18211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2026-09-02T09:26:08Z</dcterms:modified>
  <cp:revision>1</cp:revision>
  <dc:subject/>
  <dc:title/>
</cp:coreProperties>
</file>